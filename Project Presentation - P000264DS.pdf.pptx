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01" autoAdjust="0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02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364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116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482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888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69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812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4133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554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114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824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6674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74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Tuesday, February 2, 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35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4111078-sidd.github.io/300-000-School-Street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16079" y="405130"/>
            <a:ext cx="869300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Streets – School Streets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320040" y="14630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data tell us which school streets are putting children at risk?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2103120"/>
            <a:ext cx="850392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9989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COSC2667  ·  RMIT University  ·  Partner: Regen Melbourne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8234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HS   ·   William Ruthven SC   ·   Preston HS   ·   City of Darebin</a:t>
            </a:r>
            <a:endParaRPr lang="en-US" sz="900" dirty="0"/>
          </a:p>
        </p:txBody>
      </p:sp>
      <p:sp>
        <p:nvSpPr>
          <p:cNvPr id="20" name="Shape Partner"/>
          <p:cNvSpPr/>
          <p:nvPr/>
        </p:nvSpPr>
        <p:spPr>
          <a:xfrm>
            <a:off x="320040" y="2800000"/>
            <a:ext cx="4100000" cy="1600000"/>
          </a:xfrm>
          <a:prstGeom prst="rect">
            <a:avLst/>
          </a:prstGeom>
          <a:solidFill>
            <a:srgbClr val="2A2A2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Partner Label"/>
          <p:cNvSpPr/>
          <p:nvPr/>
        </p:nvSpPr>
        <p:spPr>
          <a:xfrm>
            <a:off x="420040" y="2870000"/>
            <a:ext cx="39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</a:rPr>
              <a:t>INDUSTRY PARTNER</a:t>
            </a:r>
            <a:endParaRPr lang="en-US" sz="1200" dirty="0"/>
          </a:p>
        </p:txBody>
      </p:sp>
      <p:sp>
        <p:nvSpPr>
          <p:cNvPr id="22" name="Text Partner Name"/>
          <p:cNvSpPr/>
          <p:nvPr/>
        </p:nvSpPr>
        <p:spPr>
          <a:xfrm>
            <a:off x="420040" y="3089200"/>
            <a:ext cx="39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Regen Melbourne</a:t>
            </a:r>
            <a:endParaRPr lang="en-US" sz="1600" dirty="0"/>
          </a:p>
        </p:txBody>
      </p:sp>
      <p:sp>
        <p:nvSpPr>
          <p:cNvPr id="23" name="Text Partner Desc"/>
          <p:cNvSpPr/>
          <p:nvPr/>
        </p:nvSpPr>
        <p:spPr>
          <a:xfrm>
            <a:off x="420040" y="3415700"/>
            <a:ext cx="3900000" cy="7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A Melbourne-based initiative advocating for healthy, walkable, safe streets across Victoria’s 300,000+ street network</a:t>
            </a:r>
            <a:r>
              <a:rPr lang="en-US" sz="1100" dirty="0">
                <a:solidFill>
                  <a:srgbClr val="CCCCCC"/>
                </a:solidFill>
                <a:latin typeface="Calibri" pitchFamily="34" charset="0"/>
              </a:rPr>
              <a:t>.</a:t>
            </a:r>
            <a:endParaRPr lang="en-US" sz="1100" dirty="0"/>
          </a:p>
        </p:txBody>
      </p:sp>
      <p:sp>
        <p:nvSpPr>
          <p:cNvPr id="24" name="Shape Stats Box"/>
          <p:cNvSpPr/>
          <p:nvPr/>
        </p:nvSpPr>
        <p:spPr>
          <a:xfrm>
            <a:off x="4620000" y="2800000"/>
            <a:ext cx="4300000" cy="1600000"/>
          </a:xfrm>
          <a:prstGeom prst="rect">
            <a:avLst/>
          </a:prstGeom>
          <a:solidFill>
            <a:srgbClr val="2A2A2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Stats Label"/>
          <p:cNvSpPr/>
          <p:nvPr/>
        </p:nvSpPr>
        <p:spPr>
          <a:xfrm>
            <a:off x="4720000" y="2870000"/>
            <a:ext cx="41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</a:rPr>
              <a:t>Team</a:t>
            </a:r>
            <a:endParaRPr lang="en-US" sz="1600" dirty="0"/>
          </a:p>
        </p:txBody>
      </p:sp>
      <p:sp>
        <p:nvSpPr>
          <p:cNvPr id="26" name="Text Stats Content"/>
          <p:cNvSpPr/>
          <p:nvPr/>
        </p:nvSpPr>
        <p:spPr>
          <a:xfrm>
            <a:off x="4720000" y="3192360"/>
            <a:ext cx="4100000" cy="8817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Siddhartha Ananthula (S4111078)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CCCCCC"/>
                </a:solidFill>
                <a:latin typeface="Calibri" pitchFamily="34" charset="0"/>
              </a:rPr>
              <a:t>Hishikesh</a:t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 Phukan (S4031214)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Reddy Pranay </a:t>
            </a:r>
            <a:r>
              <a:rPr lang="en-US" sz="1200" dirty="0" err="1">
                <a:solidFill>
                  <a:srgbClr val="CCCCCC"/>
                </a:solidFill>
                <a:latin typeface="Calibri" pitchFamily="34" charset="0"/>
              </a:rPr>
              <a:t>Vipparla</a:t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 (S4112678)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Venkata Nagendra </a:t>
            </a:r>
            <a:r>
              <a:rPr lang="en-US" sz="1200" dirty="0" err="1">
                <a:solidFill>
                  <a:srgbClr val="CCCCCC"/>
                </a:solidFill>
                <a:latin typeface="Calibri" pitchFamily="34" charset="0"/>
              </a:rPr>
              <a:t>Anamala</a:t>
            </a:r>
            <a:r>
              <a:rPr lang="en-US" sz="1200" dirty="0">
                <a:solidFill>
                  <a:srgbClr val="CCCCCC"/>
                </a:solidFill>
                <a:latin typeface="Calibri" pitchFamily="34" charset="0"/>
              </a:rPr>
              <a:t>(S4024233)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PROBLEM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to school on foot should be safe. Too often, it isn't.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2062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 No safe footpath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walk on roads because footpaths are broken, too narrow, or simply absent near school gates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2062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No crossing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Preston HS students cross a high-traffic arterial road with no formal pedestrian crossing — every single school day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17520"/>
            <a:ext cx="42062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No shade or rest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Ruthven SC — students wait in unshaded, unseated environments at pickup with no shelter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42062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systematic 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34290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Melbourne has 300+ secondary schools. Nobody knows which streets are dangerous because no one has measured them at scale.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0" y="48874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Streets  ·  Regen Melbourne × RMIT University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95360" y="48874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science pipeline that scores, maps, and predicts school street safety.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2608" y="1261872"/>
            <a:ext cx="16002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1261872"/>
            <a:ext cx="160020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3716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2608" y="1965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37744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observations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open government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92808" y="201168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1261872"/>
            <a:ext cx="16002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1261872"/>
            <a:ext cx="1600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13716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011680" y="1965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37744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Healthy Streets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per school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(Saunders, 2015)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11880" y="201168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30752" y="1261872"/>
            <a:ext cx="16002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30752" y="1261872"/>
            <a:ext cx="1600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30752" y="13716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730752" y="1965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22192" y="237744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— which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can be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30952" y="201168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49824" y="1261872"/>
            <a:ext cx="16002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49824" y="1261872"/>
            <a:ext cx="1600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49824" y="13716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49824" y="1965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41264" y="237744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engine —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install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crossing?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50024" y="201168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68896" y="1261872"/>
            <a:ext cx="16002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68896" y="1261872"/>
            <a:ext cx="1600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68896" y="13716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168896" y="1965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60336" y="2377440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councils and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645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on: Python · OSMnx · scikit-learn · Leaflet.js · GitHub Pages · 7-step automated pipeline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0" y="48874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Streets  ·  Regen Melbourne × RMIT University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95360" y="48874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Streets — 10 indicators, each scored 0–10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Lucy Saunders (2015) · Adopted by Transport for London · Minimum threshold: 6.0 / 10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60020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60020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Field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29968" y="1371600"/>
            <a:ext cx="160020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29968" y="1371600"/>
            <a:ext cx="1600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29968" y="1463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29968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cross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29968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Field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39896" y="1371600"/>
            <a:ext cx="160020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39896" y="1371600"/>
            <a:ext cx="1600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39896" y="1463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39896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 &amp; shelter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39896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OSM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49824" y="1371600"/>
            <a:ext cx="160020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49824" y="1371600"/>
            <a:ext cx="1600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49824" y="1463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9824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places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49824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OSM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59752" y="1371600"/>
            <a:ext cx="160020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59752" y="1371600"/>
            <a:ext cx="160020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59752" y="14630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59752" y="1920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too noisy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59752" y="22860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Field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2926080"/>
            <a:ext cx="160020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2926080"/>
            <a:ext cx="1600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3017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20040" y="3474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travel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" y="3840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OSM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029968" y="2926080"/>
            <a:ext cx="160020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029968" y="2926080"/>
            <a:ext cx="1600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029968" y="3017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029968" y="3474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safe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29968" y="3840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CSA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39896" y="2926080"/>
            <a:ext cx="160020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739896" y="2926080"/>
            <a:ext cx="1600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39896" y="3017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739896" y="3474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to do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739896" y="3840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OSM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9824" y="2926080"/>
            <a:ext cx="160020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49824" y="2926080"/>
            <a:ext cx="160020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49824" y="3017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HS9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449824" y="3474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relaxed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49824" y="3840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Field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159752" y="2926080"/>
            <a:ext cx="160020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159752" y="2926080"/>
            <a:ext cx="1600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159752" y="3017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HS10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159752" y="3474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air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59752" y="3840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EPA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0" y="48874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Streets  ·  Regen Melbourne × RMIT University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595360" y="48874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— 3 schools, 10 indicators each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138160" cy="15361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Reservoir HS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3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3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3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3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3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3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Ruthven SC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3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3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D3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Preston HS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D35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20040" y="2578608"/>
            <a:ext cx="27432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2578608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9768" y="26517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Preston HS — MAJOR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9768" y="299923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 = 0.4 — no pedestrian crossing on a high-traffic arterial road. Students cross informally every school day.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27832" y="2578608"/>
            <a:ext cx="27432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27832" y="2578608"/>
            <a:ext cx="274320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37560" y="26517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HS — 5 gaps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337560" y="299923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Rd arterial suppresses HS1, HS2, HS5, HS9. Footpath below minimum width near gate. Crossing 200m away.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35624" y="2578608"/>
            <a:ext cx="27432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35624" y="2578608"/>
            <a:ext cx="274320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45352" y="26517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Ruthven SC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245352" y="2999232"/>
            <a:ext cx="25237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HS3 = 3.0 — lowest shade score. HS4 = 3.3 — no seating near gate. Good road environment but poor amenity.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0" y="48874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Streets  ·  Regen Melbourne × RMIT University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595360" y="48874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5/13</a:t>
            </a:r>
            <a:endParaRPr lang="en-US" sz="800" dirty="0"/>
          </a:p>
        </p:txBody>
      </p:sp>
      <p:sp>
        <p:nvSpPr>
          <p:cNvPr id="90" name="Shape SoWhat BG"/>
          <p:cNvSpPr/>
          <p:nvPr/>
        </p:nvSpPr>
        <p:spPr>
          <a:xfrm>
            <a:off x="0" y="4572000"/>
            <a:ext cx="9144000" cy="380000"/>
          </a:xfrm>
          <a:prstGeom prst="rect">
            <a:avLst/>
          </a:prstGeom>
          <a:solidFill>
            <a:srgbClr val="1A1A1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SoWhat"/>
          <p:cNvSpPr/>
          <p:nvPr/>
        </p:nvSpPr>
        <p:spPr>
          <a:xfrm>
            <a:off x="200000" y="4572000"/>
            <a:ext cx="8744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</a:rPr>
              <a:t>KEY TAKEAWAY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Preston HS is MAJOR severity — HS2 = 0.4. Students cross a high-traffic arterial road with no pedestrian crossing every single school day.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HS7 &amp; HS10 can be fully automated — HS2 (crossing safety) cannot. Field surveys remain essential.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7581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(LOO-CV, n=3) · 26 open-data features · predicts HS1–HS10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869680" cy="243230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MAE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Automatable?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HS7 — Feel safe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Crime rate is a reliable proxy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HS10 — Clean air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 maps directly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HS3 — Shade/shelter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OSM tree data reasonable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HS6 — Active travel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coverage, not quality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HS2 — Easy to cross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Presence ≠ quality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HS4 — Rest places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OSM bench data sparse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320040" y="3886200"/>
            <a:ext cx="8503920" cy="640080"/>
          </a:xfrm>
          <a:prstGeom prst="rect">
            <a:avLst/>
          </a:prstGeom>
          <a:solidFill>
            <a:srgbClr val="E8F4F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HS7 and HS10 can be automated — councils can screen all 200+ Melbourne schools at zero survey cost. HS2 (crossing safety) cannot — crossing presence ≠ crossing quality. Field surveys remain essential for the highest-risk indicator.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0" y="48874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Streets  ·  Regen Melbourne × RMIT University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95360" y="48874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6/13</a:t>
            </a:r>
            <a:endParaRPr lang="en-US" sz="800" dirty="0"/>
          </a:p>
        </p:txBody>
      </p:sp>
      <p:sp>
        <p:nvSpPr>
          <p:cNvPr id="50" name="Shape SoWhat BG"/>
          <p:cNvSpPr/>
          <p:nvPr/>
        </p:nvSpPr>
        <p:spPr>
          <a:xfrm>
            <a:off x="0" y="4572000"/>
            <a:ext cx="9144000" cy="38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SoWhat"/>
          <p:cNvSpPr/>
          <p:nvPr/>
        </p:nvSpPr>
        <p:spPr>
          <a:xfrm>
            <a:off x="200000" y="4572000"/>
            <a:ext cx="8744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Councils can screen all 200+ Melbourne schools at zero survey cost for HS7 and HS10. Crossing safety (HS2) always needs boots on the ground.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ENGINE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install a crossing? Model the impact.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method — anchors to actual scores, uses model only to estimate the change. 10 intervention templates × 3 schools = 30 pre-computed results.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73152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Preston HS  —  Signalised pedestrian crossing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$80k–$200k  ·  Timeframe: &lt;1 year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HS2 = 0.4 · MAJOR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0" y="2039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HS2 ≈ 3.5 · MODERATE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532888"/>
            <a:ext cx="85039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532888"/>
            <a:ext cx="73152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606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HS  —  40 km/h school zone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898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$5k–$20k  ·  Timeframe: &lt;6 months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154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HS5 + HS9 below threshold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3154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HS5 + HS9 improvement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648456"/>
            <a:ext cx="850392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648456"/>
            <a:ext cx="73152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721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Ruthven SC  —  Street tree planting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0142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$20k–$60k  ·  Timeframe: &lt;1 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4270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HS3 = 3.0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4270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HS3 ≈ 5.5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0" y="48874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Streets  ·  Regen Melbourne × RMIT University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95360" y="48874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7/13</a:t>
            </a:r>
            <a:endParaRPr lang="en-US" sz="800" dirty="0"/>
          </a:p>
        </p:txBody>
      </p:sp>
      <p:sp>
        <p:nvSpPr>
          <p:cNvPr id="90" name="Shape SoWhat BG"/>
          <p:cNvSpPr/>
          <p:nvPr/>
        </p:nvSpPr>
        <p:spPr>
          <a:xfrm>
            <a:off x="0" y="4572000"/>
            <a:ext cx="9144000" cy="380000"/>
          </a:xfrm>
          <a:prstGeom prst="rect">
            <a:avLst/>
          </a:prstGeom>
          <a:solidFill>
            <a:srgbClr val="1A1A1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SoWhat"/>
          <p:cNvSpPr/>
          <p:nvPr/>
        </p:nvSpPr>
        <p:spPr>
          <a:xfrm>
            <a:off x="200000" y="4572000"/>
            <a:ext cx="8744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</a:rPr>
              <a:t>KEY TAKEAWAY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 $80k-$200k signalised crossing at Preston HS upgrades severity from MAJOR to MODERATE. The scenario engine quantifies ROI before councils commit capital.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FINDING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dangerous streets serve the most disadvantaged communities.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292608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29260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SEIFA disadvantage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HS overall 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880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disadvantaged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= worse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3611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(Consistent with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Giles-Corti et al., 2016)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1207008"/>
            <a:ext cx="169164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1207008"/>
            <a:ext cx="1691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20440" y="129844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HS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29000" y="1737360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20440" y="1764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SEIFA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2044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2240280"/>
            <a:ext cx="16916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20440" y="2267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 income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2468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$1,381/wk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29000" y="2743200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20440" y="2770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5-17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20440" y="2971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29000" y="3246120"/>
            <a:ext cx="16916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20440" y="32735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overall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20440" y="3474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29000" y="3749040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0440" y="37764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2044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57800" y="1207008"/>
            <a:ext cx="169164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57800" y="1207008"/>
            <a:ext cx="1691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49240" y="129844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Ruthven SC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57800" y="1737360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49240" y="1764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SEIFA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4924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57800" y="2240280"/>
            <a:ext cx="16916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49240" y="2267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 income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49240" y="2468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$1,448/wk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57800" y="2743200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49240" y="2770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5-17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49240" y="2971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57800" y="3246120"/>
            <a:ext cx="16916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49240" y="32735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overall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49240" y="3474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7800" y="3749040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49240" y="37764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4924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86600" y="1207008"/>
            <a:ext cx="169164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086600" y="1207008"/>
            <a:ext cx="1691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78040" y="129844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Preston HS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086600" y="1737360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178040" y="1764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SEIFA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178040" y="1965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7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86600" y="2240280"/>
            <a:ext cx="16916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178040" y="22677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Med. income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178040" y="2468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$1,652/wk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86600" y="2743200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178040" y="2770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5-17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178040" y="2971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86600" y="3246120"/>
            <a:ext cx="16916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178040" y="32735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overall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178040" y="3474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086600" y="3749040"/>
            <a:ext cx="1691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178040" y="37764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178040" y="3977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HS: most disadvantaged catchment AND most safety deficiencies. Strongest case for prioritised investment.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0" y="48874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Streets  ·  Regen Melbourne × RMIT University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595360" y="48874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8/13</a:t>
            </a:r>
            <a:endParaRPr lang="en-US" sz="800" dirty="0"/>
          </a:p>
        </p:txBody>
      </p:sp>
      <p:sp>
        <p:nvSpPr>
          <p:cNvPr id="90" name="Shape SoWhat BG"/>
          <p:cNvSpPr/>
          <p:nvPr/>
        </p:nvSpPr>
        <p:spPr>
          <a:xfrm>
            <a:off x="0" y="4549698"/>
            <a:ext cx="9144000" cy="380000"/>
          </a:xfrm>
          <a:prstGeom prst="rect">
            <a:avLst/>
          </a:prstGeom>
          <a:solidFill>
            <a:srgbClr val="1A1A1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SoWhat"/>
          <p:cNvSpPr/>
          <p:nvPr/>
        </p:nvSpPr>
        <p:spPr>
          <a:xfrm>
            <a:off x="200000" y="4549698"/>
            <a:ext cx="8744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</a:rPr>
              <a:t>KEY TAKEAWAY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</a:rPr>
              <a:t>r = 0.84 — most disadvantaged catchments have worst safety outcomes. Equity-weighted investment in Reservoir HS is strongly justified.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1" y="182880"/>
            <a:ext cx="2946152" cy="27945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-168383" y="16057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CRASH EVIDENCE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192% increase in pedestrian and cyclist crashes in Darebin — 2021 to 2024.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19202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1920240" cy="45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7,948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 crashes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dataset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31720" y="1207008"/>
            <a:ext cx="19202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31720" y="1207008"/>
            <a:ext cx="19202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31720" y="12984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33172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Darebin crashes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3172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43400" y="1207008"/>
            <a:ext cx="19202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43400" y="1207008"/>
            <a:ext cx="19202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3400" y="12984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34340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our schools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4340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400m gate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355080" y="1207008"/>
            <a:ext cx="19202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55080" y="1207008"/>
            <a:ext cx="19202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129844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+192%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5508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LGA trend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550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2021→2024 increase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80360"/>
          <a:ext cx="8503920" cy="16093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crashes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School-hours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school hours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Preston 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Unsignalised gate crossing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Reservoir 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Plenty Road arterial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Ruthven SC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at school arrival/pickup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320040" y="43159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Ruthven SC: 100% of crashes occur during school arrival and pickup windows — invisible in annual totals, critical when filtered.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0" y="48874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Streets  ·  Regen Melbourne × RMIT University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595360" y="48874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9/13</a:t>
            </a:r>
            <a:endParaRPr lang="en-US" sz="800" dirty="0"/>
          </a:p>
        </p:txBody>
      </p:sp>
      <p:sp>
        <p:nvSpPr>
          <p:cNvPr id="90" name="Shape SoWhat BG"/>
          <p:cNvSpPr/>
          <p:nvPr/>
        </p:nvSpPr>
        <p:spPr>
          <a:xfrm>
            <a:off x="0" y="4620000"/>
            <a:ext cx="9144000" cy="330000"/>
          </a:xfrm>
          <a:prstGeom prst="rect">
            <a:avLst/>
          </a:prstGeom>
          <a:solidFill>
            <a:srgbClr val="1A1A1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SoWhat"/>
          <p:cNvSpPr/>
          <p:nvPr/>
        </p:nvSpPr>
        <p:spPr>
          <a:xfrm>
            <a:off x="200000" y="4620000"/>
            <a:ext cx="87440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</a:rPr>
              <a:t>KEY TAKEAWAY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+192% crashes in Darebin 2021-2024. William Ruthven SC: 100% of crashes occur during school hours — invisible in annual totals, critical when filtered.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Streets – School Safety Dashboard</a:t>
            </a:r>
            <a:endParaRPr lang="en-US" sz="3600" u="sng" dirty="0"/>
          </a:p>
        </p:txBody>
      </p:sp>
      <p:sp>
        <p:nvSpPr>
          <p:cNvPr id="4" name="Text 2"/>
          <p:cNvSpPr/>
          <p:nvPr/>
        </p:nvSpPr>
        <p:spPr>
          <a:xfrm>
            <a:off x="710565" y="2434209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https://s4111078-sidd.github.io/300-000-School-Streets/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0" y="48874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Streets  ·  Regen Melbourne × RMIT University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95360" y="48874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9100" y="238268"/>
            <a:ext cx="1817846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lvl="2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" y="243643"/>
            <a:ext cx="18178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9366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find?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2062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5720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1389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Preston HS is MAJOR severity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17373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pedestrian crossing on a high-traffic arterial road. HS2 = 0.4. Cheapest fix: $80k–$200k raised zebra crossing.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98448"/>
            <a:ext cx="42062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298448"/>
            <a:ext cx="45720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298448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21808" y="1389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 correlates with danger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21808" y="17373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r=0.84 between SEIFA decile and HS score. Reservoir HS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most disadvantaged AND most safety deficiencies. Equity-weighted investment justified.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90088"/>
            <a:ext cx="42062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990088"/>
            <a:ext cx="45720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990088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30815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indicators can be automated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" y="34290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HS7 (feel safe) and HS10 (clean air) predicted from open data alone. Enables network-wide triage of 200+ Melbourne schools at zero survey cost.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990088"/>
            <a:ext cx="420624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990088"/>
            <a:ext cx="457200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990088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21808" y="30815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are rising — and school-timed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21808" y="34290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192% increase in Darebin 2021–2024. William Ruthven SC: 100% of crashes during school hours. Structural infrastructure gap - not just more cyclists.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48874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Streets  ·  Regen Melbourne × RMIT University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95360" y="48874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11/13</a:t>
            </a:r>
            <a:endParaRPr lang="en-US" sz="800" dirty="0"/>
          </a:p>
        </p:txBody>
      </p:sp>
      <p:sp>
        <p:nvSpPr>
          <p:cNvPr id="90" name="Shape SoWhat BG"/>
          <p:cNvSpPr/>
          <p:nvPr/>
        </p:nvSpPr>
        <p:spPr>
          <a:xfrm>
            <a:off x="0" y="4572000"/>
            <a:ext cx="9144000" cy="380000"/>
          </a:xfrm>
          <a:prstGeom prst="rect">
            <a:avLst/>
          </a:prstGeom>
          <a:solidFill>
            <a:srgbClr val="1A1A1A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SoWhat"/>
          <p:cNvSpPr/>
          <p:nvPr/>
        </p:nvSpPr>
        <p:spPr>
          <a:xfrm>
            <a:off x="200000" y="4572000"/>
            <a:ext cx="8744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</a:rPr>
              <a:t>KEY TAKEAWAY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Pipeline scales to all 300,000 streets of Melbourne with no code changes — 200+ schools can be triaged at zero survey cost starting today.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REFERENCES &amp; DATA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References and Data Sources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Frameworks &amp; literature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Saunders, L. (2015). Healthy Streets for London. Transport for London.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Giles-Corti, B., et al. (2016). City planning and population health: A global challenge. The Lancet, 388(10062).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Mekuria, M. C., Furth, P. G., &amp; Nixon, H. (2012). Low-stress bicycling and network connectivity. Mineta Transportation Institute.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41401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Pedregosa, F., et al. (2011). Scikit-learn: Machine learning in Python. JMLR, 12.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sources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Victorian Road Crash Data — data.vic.gov.au (7,948 records, 2021–2025)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43814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OpenStreetMap contributors (2024) — openstreetmap.org via Overpass API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 Census &amp; SEIFA 2021 — abs.gov.au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0599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EPA Victoria AirWatch — epa.vic.gov.au  ·  Crime Statistics Agency Victoria — crimestatistics.vic.gov.au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0" y="48874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300,000 Streets  ·  Regen Melbourne × RMIT University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95360" y="48874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12/13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32004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8503920" cy="0"/>
          </a:xfrm>
          <a:prstGeom prst="line">
            <a:avLst/>
          </a:prstGeom>
          <a:noFill/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automated pipeline on all 200+ Melbourne secondary schools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214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schools below HS 5.0 or SEIFA decile 1–4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8833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surveyors needed for initial triage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1115568"/>
            <a:ext cx="274320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27832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19272" y="15544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surveys for flagged schools — HS1, HS2, HS4, HS5, HS8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9272" y="21214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 per school, no code changes required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268833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Ridge model on 20+ schools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35624" y="1115568"/>
            <a:ext cx="274320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35624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27064" y="155448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feeds from VicRoads and ABS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27064" y="21214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Longitudinally track post-intervention schools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</TotalTime>
  <Words>1727</Words>
  <Application>Microsoft Macintosh PowerPoint</Application>
  <PresentationFormat>On-screen Show (16:9)</PresentationFormat>
  <Paragraphs>366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300,000 Streets — RMIT Showcase</dc:title>
  <dc:subject>PptxGenJS Presentation</dc:subject>
  <dc:creator>PptxGenJS</dc:creator>
  <cp:lastModifiedBy>Hishikesh Phukan</cp:lastModifiedBy>
  <cp:revision>6</cp:revision>
  <dcterms:created xsi:type="dcterms:W3CDTF">2026-06-09T00:31:37Z</dcterms:created>
  <dcterms:modified xsi:type="dcterms:W3CDTF">2026-06-10T05:52:02Z</dcterms:modified>
</cp:coreProperties>
</file>